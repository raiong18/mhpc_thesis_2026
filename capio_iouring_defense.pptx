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180">
                <a:solidFill>
                  <a:srgbClr val="C9761E"/>
                </a:solidFill>
                <a:latin typeface="Consolas"/>
              </a:rPr>
              <a:t>MHPC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514600"/>
            <a:ext cx="685800" cy="44450"/>
          </a:xfrm>
          <a:prstGeom prst="rect">
            <a:avLst/>
          </a:prstGeom>
          <a:solidFill>
            <a:srgbClr val="C9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90827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41A24"/>
                </a:solidFill>
                <a:latin typeface="Calibri"/>
              </a:rPr>
              <a:t>Transparent </a:t>
            </a:r>
            <a:r>
              <a:rPr sz="4000" b="1" i="0">
                <a:solidFill>
                  <a:srgbClr val="C9761E"/>
                </a:solidFill>
                <a:latin typeface="Calibri"/>
              </a:rPr>
              <a:t>io_uring</a:t>
            </a:r>
            <a:r>
              <a:rPr sz="4000" b="1" i="0">
                <a:solidFill>
                  <a:srgbClr val="141A24"/>
                </a:solidFill>
                <a:latin typeface="Calibri"/>
              </a:rPr>
              <a:t> interception in CAPIO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A6B82"/>
                </a:solidFill>
                <a:latin typeface="Calibri"/>
              </a:rPr>
              <a:t>Userspace emulation for data-intensive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A24"/>
                </a:solidFill>
                <a:latin typeface="Calibri"/>
              </a:rPr>
              <a:t>Emilio Gordillo</a:t>
            </a:r>
          </a:p>
          <a:p>
            <a:r>
              <a:rPr sz="1500" b="0" i="0">
                <a:solidFill>
                  <a:srgbClr val="5A6B82"/>
                </a:solidFill>
                <a:latin typeface="Calibri"/>
              </a:rPr>
              <a:t>Supervisors: </a:t>
            </a:r>
            <a:r>
              <a:rPr sz="1500" b="1" i="0">
                <a:solidFill>
                  <a:srgbClr val="141A24"/>
                </a:solidFill>
                <a:latin typeface="Calibri"/>
              </a:rPr>
              <a:t>Serafina Di Gioia</a:t>
            </a:r>
            <a:r>
              <a:rPr sz="1500" b="0" i="0">
                <a:solidFill>
                  <a:srgbClr val="5A6B82"/>
                </a:solidFill>
                <a:latin typeface="Calibri"/>
              </a:rPr>
              <a:t> · </a:t>
            </a:r>
            <a:r>
              <a:rPr sz="1500" b="1" i="0">
                <a:solidFill>
                  <a:srgbClr val="141A24"/>
                </a:solidFill>
                <a:latin typeface="Calibri"/>
              </a:rPr>
              <a:t>Iacopo Colonnelli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40">
                <a:solidFill>
                  <a:srgbClr val="5A6B82"/>
                </a:solidFill>
                <a:latin typeface="Consolas"/>
              </a:rPr>
              <a:t>01 · </a:t>
            </a:r>
            <a:r>
              <a:rPr sz="1200" b="1" i="0" spc="140">
                <a:solidFill>
                  <a:srgbClr val="C9761E"/>
                </a:solidFill>
                <a:latin typeface="Consolas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A24"/>
                </a:solidFill>
                <a:latin typeface="Calibri"/>
              </a:rPr>
              <a:t>A middleware that redirects I/O by intercepting system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B82"/>
                </a:solidFill>
                <a:latin typeface="Calibri"/>
              </a:rPr>
              <a:t>CAPIO streams files between workflow steps by intercepting system calls. io_uring does its I/O in shared memory, with no syscall per operation, so CAPIO never sees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761E"/>
                </a:solidFill>
                <a:latin typeface="Consolas"/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108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A24"/>
                </a:solidFill>
                <a:latin typeface="Calibri"/>
              </a:rPr>
              <a:t>Transparency.</a:t>
            </a:r>
            <a:r>
              <a:rPr sz="1600" b="0" i="0">
                <a:solidFill>
                  <a:srgbClr val="141A24"/>
                </a:solidFill>
                <a:latin typeface="Calibri"/>
              </a:rPr>
              <a:t> Can a userspace middleware redirect io_uring I/O to its own storage, unchanged application, same API semantics?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761E"/>
                </a:solidFill>
                <a:latin typeface="Consolas"/>
              </a:rPr>
              <a:t>RQ2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1605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A24"/>
                </a:solidFill>
                <a:latin typeface="Calibri"/>
              </a:rPr>
              <a:t>Overhead.</a:t>
            </a:r>
            <a:r>
              <a:rPr sz="1600" b="0" i="0">
                <a:solidFill>
                  <a:srgbClr val="141A24"/>
                </a:solidFill>
                <a:latin typeface="Calibri"/>
              </a:rPr>
              <a:t> What does userspace emulation cost against native io_uring and against CAPIO's existing POSIX path?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761E"/>
                </a:solidFill>
                <a:latin typeface="Consolas"/>
              </a:rPr>
              <a:t>RQ3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212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A24"/>
                </a:solidFill>
                <a:latin typeface="Calibri"/>
              </a:rPr>
              <a:t>Benefit.</a:t>
            </a:r>
            <a:r>
              <a:rPr sz="1600" b="0" i="0">
                <a:solidFill>
                  <a:srgbClr val="141A24"/>
                </a:solidFill>
                <a:latin typeface="Calibri"/>
              </a:rPr>
              <a:t> Do CAPIO's streaming gains hold when workflow steps use asynchronous I/O?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40">
                <a:solidFill>
                  <a:srgbClr val="5A6B82"/>
                </a:solidFill>
                <a:latin typeface="Consolas"/>
              </a:rPr>
              <a:t>02 · </a:t>
            </a:r>
            <a:r>
              <a:rPr sz="1200" b="1" i="0" spc="140">
                <a:solidFill>
                  <a:srgbClr val="C9761E"/>
                </a:solidFill>
                <a:latin typeface="Consolas"/>
              </a:rPr>
              <a:t>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A24"/>
                </a:solidFill>
                <a:latin typeface="Calibri"/>
              </a:rPr>
              <a:t>Why syscall interception is </a:t>
            </a:r>
            <a:r>
              <a:rPr sz="2600" b="1" i="0">
                <a:solidFill>
                  <a:srgbClr val="C9761E"/>
                </a:solidFill>
                <a:latin typeface="Calibri"/>
              </a:rPr>
              <a:t>blind</a:t>
            </a:r>
            <a:r>
              <a:rPr sz="2600" b="1" i="0">
                <a:solidFill>
                  <a:srgbClr val="141A24"/>
                </a:solidFill>
                <a:latin typeface="Calibri"/>
              </a:rPr>
              <a:t> to io_uring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272887" cy="3108960"/>
          </a:xfrm>
          <a:prstGeom prst="roundRect">
            <a:avLst>
              <a:gd name="adj" fmla="val 6000"/>
            </a:avLst>
          </a:prstGeom>
          <a:solidFill>
            <a:srgbClr val="E7F3ED"/>
          </a:solidFill>
          <a:ln w="19050">
            <a:solidFill>
              <a:srgbClr val="1F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815687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00">
                <a:solidFill>
                  <a:srgbClr val="5A6B82"/>
                </a:solidFill>
                <a:latin typeface="Consolas"/>
              </a:rPr>
              <a:t>POSIX PATH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1F8A5F"/>
                </a:solidFill>
                <a:latin typeface="Consolas"/>
              </a:rPr>
              <a:t>write(fd, buf, n)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A6B82"/>
                </a:solidFill>
                <a:latin typeface="Calibri"/>
              </a:rPr>
              <a:t>One syscall per read or write. It crosses into the kernel, where CAPIO catches it and redirects the data.</a:t>
            </a:r>
          </a:p>
          <a:p>
            <a:pPr>
              <a:spcBef>
                <a:spcPts val="1400"/>
              </a:spcBef>
            </a:pPr>
            <a:r>
              <a:rPr sz="1300" b="1" i="0">
                <a:solidFill>
                  <a:srgbClr val="1F8A5F"/>
                </a:solidFill>
                <a:latin typeface="Calibri"/>
              </a:rPr>
              <a:t>Visible to CAPIO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011680"/>
            <a:ext cx="5272887" cy="3108960"/>
          </a:xfrm>
          <a:prstGeom prst="roundRect">
            <a:avLst>
              <a:gd name="adj" fmla="val 6000"/>
            </a:avLst>
          </a:prstGeom>
          <a:solidFill>
            <a:srgbClr val="FBEED9"/>
          </a:solidFill>
          <a:ln w="19050">
            <a:solidFill>
              <a:srgbClr val="C97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240280"/>
            <a:ext cx="4815687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00">
                <a:solidFill>
                  <a:srgbClr val="5A6B82"/>
                </a:solidFill>
                <a:latin typeface="Consolas"/>
              </a:rPr>
              <a:t>IO_URING PATH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C9761E"/>
                </a:solidFill>
                <a:latin typeface="Consolas"/>
              </a:rPr>
              <a:t>SQ / CQ rings in mmapped memory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A6B82"/>
                </a:solidFill>
                <a:latin typeface="Calibri"/>
              </a:rPr>
              <a:t>The app drops entries in a shared ring and reads results back from another. One io_uring_enter hands over a whole batch; the data ops are memory writes, not calls.</a:t>
            </a:r>
          </a:p>
          <a:p>
            <a:pPr>
              <a:spcBef>
                <a:spcPts val="1400"/>
              </a:spcBef>
            </a:pPr>
            <a:r>
              <a:rPr sz="1300" b="1" i="0">
                <a:solidFill>
                  <a:srgbClr val="C9761E"/>
                </a:solidFill>
                <a:latin typeface="Calibri"/>
              </a:rPr>
              <a:t>Invisible to CAPIO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595A8"/>
                </a:solidFill>
                <a:latin typeface="Calibri"/>
              </a:rPr>
              <a:t>io_uring exposes three syscalls: setup (425), enter (426), register (427). The reads and writes are not among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40">
                <a:solidFill>
                  <a:srgbClr val="5A6B82"/>
                </a:solidFill>
                <a:latin typeface="Consolas"/>
              </a:rPr>
              <a:t>03 · </a:t>
            </a:r>
            <a:r>
              <a:rPr sz="1200" b="1" i="0" spc="140">
                <a:solidFill>
                  <a:srgbClr val="C9761E"/>
                </a:solidFill>
                <a:latin typeface="Consolas"/>
              </a:rP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A24"/>
                </a:solidFill>
                <a:latin typeface="Calibri"/>
              </a:rPr>
              <a:t>Where the gap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B82"/>
                </a:solidFill>
                <a:latin typeface="Calibri"/>
              </a:rPr>
              <a:t>Prior I/O middleware speeds up workflows but sees only syscalls. One system emulates io_uring in userspace, but not for a workflow middleware.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70">
                <a:solidFill>
                  <a:srgbClr val="5A6B82"/>
                </a:solidFill>
                <a:latin typeface="Consolas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70">
                <a:solidFill>
                  <a:srgbClr val="5A6B82"/>
                </a:solidFill>
                <a:latin typeface="Consolas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743200"/>
            <a:ext cx="30476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70">
                <a:solidFill>
                  <a:srgbClr val="5A6B82"/>
                </a:solidFill>
                <a:latin typeface="Consolas"/>
              </a:rPr>
              <a:t>SEES IO_URING?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70580"/>
            <a:ext cx="10911535" cy="19050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ADIOS, GekkoFS, Damaris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Workflow / HPC I/O staging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383280"/>
            <a:ext cx="30476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761E"/>
                </a:solidFill>
                <a:latin typeface="Calibri"/>
              </a:rPr>
              <a:t>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1066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strace, syscall monitors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2336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Observe via syscall interception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23360"/>
            <a:ext cx="30476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761E"/>
                </a:solidFill>
                <a:latin typeface="Calibri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5074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gVisor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6344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Emulates io_uring in a userspace kernel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663440"/>
            <a:ext cx="30476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8A5F"/>
                </a:solidFill>
                <a:latin typeface="Calibri"/>
              </a:rPr>
              <a:t>yes, not a workflow middleware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9082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A24"/>
                </a:solidFill>
                <a:latin typeface="Calibri"/>
              </a:rPr>
              <a:t>This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0352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A24"/>
                </a:solidFill>
                <a:latin typeface="Calibri"/>
              </a:rPr>
              <a:t>io_uring emulation inside CAPIO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303520"/>
            <a:ext cx="30476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8A5F"/>
                </a:solidFill>
                <a:latin typeface="Calibri"/>
              </a:rPr>
              <a:t>the contribution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93090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40">
                <a:solidFill>
                  <a:srgbClr val="5A6B82"/>
                </a:solidFill>
                <a:latin typeface="Consolas"/>
              </a:rPr>
              <a:t>04 · </a:t>
            </a:r>
            <a:r>
              <a:rPr sz="1200" b="1" i="0" spc="140">
                <a:solidFill>
                  <a:srgbClr val="C9761E"/>
                </a:solidFill>
                <a:latin typeface="Consolas"/>
              </a:rPr>
              <a:t>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80015" y="384048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E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100">
                <a:solidFill>
                  <a:srgbClr val="1F8A5F"/>
                </a:solidFill>
                <a:latin typeface="Consolas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A24"/>
                </a:solidFill>
                <a:latin typeface="Calibri"/>
              </a:rPr>
              <a:t>Three paths work. io_uring under CAPIO </a:t>
            </a:r>
            <a:r>
              <a:rPr sz="2600" b="1" i="0">
                <a:solidFill>
                  <a:srgbClr val="C9761E"/>
                </a:solidFill>
                <a:latin typeface="Calibri"/>
              </a:rPr>
              <a:t>fails</a:t>
            </a:r>
            <a:r>
              <a:rPr sz="2600" b="1" i="0">
                <a:solidFill>
                  <a:srgbClr val="141A24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965960"/>
            <a:ext cx="2286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60">
                <a:solidFill>
                  <a:srgbClr val="5A6B82"/>
                </a:solidFill>
                <a:latin typeface="Consolas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2384" y="1965960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60">
                <a:solidFill>
                  <a:srgbClr val="5A6B82"/>
                </a:solidFill>
                <a:latin typeface="Consolas"/>
              </a:rPr>
              <a:t>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66944" y="196596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spc="60">
                <a:solidFill>
                  <a:srgbClr val="5A6B82"/>
                </a:solidFill>
                <a:latin typeface="Consolas"/>
              </a:rPr>
              <a:t>Write MB/s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1424" y="1965960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60">
                <a:solidFill>
                  <a:srgbClr val="5A6B82"/>
                </a:solidFill>
                <a:latin typeface="Consolas"/>
              </a:rPr>
              <a:t>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7584" y="196596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60">
                <a:solidFill>
                  <a:srgbClr val="5A6B82"/>
                </a:solidFill>
                <a:latin typeface="Consolas"/>
              </a:rPr>
              <a:t>Verified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8748"/>
            <a:ext cx="10911535" cy="15240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41448"/>
            <a:ext cx="2286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Filesystem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441448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1A24"/>
                </a:solidFill>
                <a:latin typeface="Consolas"/>
              </a:rPr>
              <a:t>posix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2441448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41A24"/>
                </a:solidFill>
                <a:latin typeface="Calibri"/>
              </a:rPr>
              <a:t>353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587752"/>
            <a:ext cx="3108960" cy="182880"/>
          </a:xfrm>
          <a:prstGeom prst="rect">
            <a:avLst/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87584" y="244144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8A5F"/>
                </a:solidFill>
                <a:latin typeface="Calibr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04236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916936"/>
            <a:ext cx="2286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Filesystem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2916936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1A24"/>
                </a:solidFill>
                <a:latin typeface="Consolas"/>
              </a:rPr>
              <a:t>io_uring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916936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41A24"/>
                </a:solidFill>
                <a:latin typeface="Calibri"/>
              </a:rPr>
              <a:t>328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063240"/>
            <a:ext cx="2891332" cy="182880"/>
          </a:xfrm>
          <a:prstGeom prst="rect">
            <a:avLst/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87584" y="291693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8A5F"/>
                </a:solidFill>
                <a:latin typeface="Calibri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79724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392424"/>
            <a:ext cx="2286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CAPIO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2384" y="3392424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1A24"/>
                </a:solidFill>
                <a:latin typeface="Consolas"/>
              </a:rPr>
              <a:t>posix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3392424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41A24"/>
                </a:solidFill>
                <a:latin typeface="Calibri"/>
              </a:rPr>
              <a:t>178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538728"/>
            <a:ext cx="1554480" cy="182880"/>
          </a:xfrm>
          <a:prstGeom prst="rect">
            <a:avLst/>
          </a:prstGeom>
          <a:solidFill>
            <a:srgbClr val="859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87584" y="3392424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8A5F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55212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867912"/>
            <a:ext cx="2286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A24"/>
                </a:solidFill>
                <a:latin typeface="Calibri"/>
              </a:rPr>
              <a:t>CAPIO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384" y="3867912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1A24"/>
                </a:solidFill>
                <a:latin typeface="Consolas"/>
              </a:rPr>
              <a:t>io_uring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944" y="386791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41A24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014216"/>
            <a:ext cx="3108960" cy="182880"/>
          </a:xfrm>
          <a:prstGeom prst="rect">
            <a:avLst/>
          </a:prstGeom>
          <a:solidFill>
            <a:srgbClr val="FBEED9"/>
          </a:solidFill>
          <a:ln w="12700">
            <a:solidFill>
              <a:srgbClr val="C976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584" y="3867912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761E"/>
                </a:solidFill>
                <a:latin typeface="Calibri"/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3070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4526280"/>
            <a:ext cx="10911535" cy="868680"/>
          </a:xfrm>
          <a:prstGeom prst="roundRect">
            <a:avLst>
              <a:gd name="adj" fmla="val 6000"/>
            </a:avLst>
          </a:prstGeom>
          <a:solidFill>
            <a:srgbClr val="FBEED9"/>
          </a:solidFill>
          <a:ln w="15240">
            <a:solidFill>
              <a:srgbClr val="C97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526280"/>
            <a:ext cx="1280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61E"/>
                </a:solidFill>
                <a:latin typeface="Consolas"/>
              </a:rPr>
              <a:t>EBADF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526280"/>
            <a:ext cx="90827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1A24"/>
                </a:solidFill>
                <a:latin typeface="Calibri"/>
              </a:rPr>
              <a:t>CAPIO returns its own file descriptor from open. io_uring passes it straight to the kernel, which does not know it: </a:t>
            </a:r>
            <a:r>
              <a:rPr sz="1400" b="1" i="0">
                <a:solidFill>
                  <a:srgbClr val="C9761E"/>
                </a:solidFill>
                <a:latin typeface="Calibri"/>
              </a:rPr>
              <a:t>Bad file descriptor</a:t>
            </a:r>
            <a:r>
              <a:rPr sz="1400" b="0" i="0">
                <a:solidFill>
                  <a:srgbClr val="141A24"/>
                </a:solidFill>
                <a:latin typeface="Calibri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595A8"/>
                </a:solidFill>
                <a:latin typeface="Calibri"/>
              </a:rPr>
              <a:t>Built a verified benchmark (checksummed) across four setups. 100 files x 1 MB, queue depth 32, median of 5 runs, local disk.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40">
                <a:solidFill>
                  <a:srgbClr val="5A6B82"/>
                </a:solidFill>
                <a:latin typeface="Consolas"/>
              </a:rPr>
              <a:t>05 · </a:t>
            </a:r>
            <a:r>
              <a:rPr sz="1200" b="1" i="0" spc="140">
                <a:solidFill>
                  <a:srgbClr val="C9761E"/>
                </a:solidFill>
                <a:latin typeface="Consolas"/>
              </a:rPr>
              <a:t>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80015" y="384048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100">
                <a:solidFill>
                  <a:srgbClr val="C9761E"/>
                </a:solidFill>
                <a:latin typeface="Consolas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A24"/>
                </a:solidFill>
                <a:latin typeface="Calibri"/>
              </a:rPr>
              <a:t>Why intercepting the library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B82"/>
                </a:solidFill>
                <a:latin typeface="Calibri"/>
              </a:rPr>
              <a:t>Each way the simple approach fails sets a requirement for the real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A24"/>
                </a:solidFill>
                <a:latin typeface="Calibri"/>
              </a:rPr>
              <a:t>Where it fails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072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26517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5328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60">
                <a:solidFill>
                  <a:srgbClr val="C9761E"/>
                </a:solidFill>
                <a:latin typeface="Consolas"/>
              </a:rPr>
              <a:t>hook the liburing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A24"/>
                </a:solidFill>
                <a:latin typeface="Calibri"/>
              </a:rPr>
              <a:t>What CAPIO must do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5328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60">
                <a:solidFill>
                  <a:srgbClr val="1F8A5F"/>
                </a:solidFill>
                <a:latin typeface="Consolas"/>
              </a:rPr>
              <a:t>emulate the 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10911535" cy="25400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5029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B82"/>
                </a:solidFill>
                <a:latin typeface="Calibri"/>
              </a:rPr>
              <a:t>The app reads its results straight from memory, so there is no library call to intercept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00400"/>
            <a:ext cx="457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761E"/>
                </a:solidFill>
                <a:latin typeface="Consola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5029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41A24"/>
                </a:solidFill>
                <a:latin typeface="Calibri"/>
              </a:rPr>
              <a:t>Control that memory itself, by emulating mmap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4782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5029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B82"/>
                </a:solidFill>
                <a:latin typeface="Calibri"/>
              </a:rPr>
              <a:t>Some apps skip the library and talk to the kernel directly, staying invisible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160520"/>
            <a:ext cx="457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761E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5029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41A24"/>
                </a:solidFill>
                <a:latin typeface="Calibri"/>
              </a:rPr>
              <a:t>Intercept at the system-call level, below the library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10794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5029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B82"/>
                </a:solidFill>
                <a:latin typeface="Calibri"/>
              </a:rPr>
              <a:t>The kernel owns the ring, so CAPIO cannot control what is read or written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120640"/>
            <a:ext cx="457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761E"/>
                </a:solidFill>
                <a:latin typeface="Consola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20640"/>
            <a:ext cx="5029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41A24"/>
                </a:solidFill>
                <a:latin typeface="Calibri"/>
              </a:rPr>
              <a:t>Build the ring itself, and hand the app an identifier it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06806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40">
                <a:solidFill>
                  <a:srgbClr val="5A6B82"/>
                </a:solidFill>
                <a:latin typeface="Consolas"/>
              </a:rPr>
              <a:t>06 · </a:t>
            </a:r>
            <a:r>
              <a:rPr sz="1200" b="1" i="0" spc="140">
                <a:solidFill>
                  <a:srgbClr val="C9761E"/>
                </a:solidFill>
                <a:latin typeface="Consolas"/>
              </a:rPr>
              <a:t>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80015" y="384048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100">
                <a:solidFill>
                  <a:srgbClr val="C9761E"/>
                </a:solidFill>
                <a:latin typeface="Consolas"/>
              </a:rPr>
              <a:t>PLANNED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A24"/>
                </a:solidFill>
                <a:latin typeface="Calibri"/>
              </a:rPr>
              <a:t>Four setups, three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82880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60">
                <a:solidFill>
                  <a:srgbClr val="5A6B82"/>
                </a:solidFill>
                <a:latin typeface="Consolas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965960"/>
            <a:ext cx="310896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96596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60">
                <a:solidFill>
                  <a:srgbClr val="5A6B82"/>
                </a:solidFill>
                <a:latin typeface="Consolas"/>
              </a:rPr>
              <a:t>POSIX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965960"/>
            <a:ext cx="310896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96596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60">
                <a:solidFill>
                  <a:srgbClr val="5A6B82"/>
                </a:solidFill>
                <a:latin typeface="Consolas"/>
              </a:rPr>
              <a:t>IO_URING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182880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60">
                <a:solidFill>
                  <a:srgbClr val="5A6B82"/>
                </a:solidFill>
                <a:latin typeface="Consolas"/>
              </a:rPr>
              <a:t>FILESYSTEM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74320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74320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A24"/>
                </a:solidFill>
                <a:latin typeface="Calibri"/>
              </a:rPr>
              <a:t>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74320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74320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A24"/>
                </a:solidFill>
                <a:latin typeface="Calibri"/>
              </a:rPr>
              <a:t>baseline, async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182880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2044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60">
                <a:solidFill>
                  <a:srgbClr val="5A6B82"/>
                </a:solidFill>
                <a:latin typeface="Consolas"/>
              </a:rPr>
              <a:t>CAPIO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52044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352044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A24"/>
                </a:solidFill>
                <a:latin typeface="Calibri"/>
              </a:rPr>
              <a:t>current path</a:t>
            </a:r>
          </a:p>
          <a:p>
            <a:r>
              <a:rPr sz="1250" b="0" i="0">
                <a:solidFill>
                  <a:srgbClr val="5A6B82"/>
                </a:solidFill>
                <a:latin typeface="Calibri"/>
              </a:rPr>
              <a:t>measured today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52044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52044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A24"/>
                </a:solidFill>
                <a:latin typeface="Calibri"/>
              </a:rPr>
              <a:t>the contribution</a:t>
            </a:r>
          </a:p>
          <a:p>
            <a:r>
              <a:rPr sz="1250" b="0" i="0">
                <a:solidFill>
                  <a:srgbClr val="5A6B82"/>
                </a:solidFill>
                <a:latin typeface="Calibri"/>
              </a:rPr>
              <a:t>the goal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00016"/>
            <a:ext cx="109728" cy="109728"/>
          </a:xfrm>
          <a:prstGeom prst="rect">
            <a:avLst/>
          </a:prstGeom>
          <a:solidFill>
            <a:srgbClr val="C9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A24"/>
                </a:solidFill>
                <a:latin typeface="Calibri"/>
              </a:rPr>
              <a:t>Micro:</a:t>
            </a:r>
            <a:r>
              <a:rPr sz="1500" b="0" i="0">
                <a:solidFill>
                  <a:srgbClr val="141A24"/>
                </a:solidFill>
                <a:latin typeface="Calibri"/>
              </a:rPr>
              <a:t> latency of io_uring_enter, native vs intercepted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57216"/>
            <a:ext cx="109728" cy="109728"/>
          </a:xfrm>
          <a:prstGeom prst="rect">
            <a:avLst/>
          </a:prstGeom>
          <a:solidFill>
            <a:srgbClr val="C9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A24"/>
                </a:solidFill>
                <a:latin typeface="Calibri"/>
              </a:rPr>
              <a:t>Synthetic:</a:t>
            </a:r>
            <a:r>
              <a:rPr sz="1500" b="0" i="0">
                <a:solidFill>
                  <a:srgbClr val="141A24"/>
                </a:solidFill>
                <a:latin typeface="Calibri"/>
              </a:rPr>
              <a:t> the 1-to-1 pattern at the paper's sizes (100 MB to 10 GB)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14416"/>
            <a:ext cx="109728" cy="109728"/>
          </a:xfrm>
          <a:prstGeom prst="rect">
            <a:avLst/>
          </a:prstGeom>
          <a:solidFill>
            <a:srgbClr val="C9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A24"/>
                </a:solidFill>
                <a:latin typeface="Calibri"/>
              </a:rPr>
              <a:t>External:</a:t>
            </a:r>
            <a:r>
              <a:rPr sz="1500" b="0" i="0">
                <a:solidFill>
                  <a:srgbClr val="141A24"/>
                </a:solidFill>
                <a:latin typeface="Calibri"/>
              </a:rPr>
              <a:t> fio's io_uring engine over CAPIO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595A8"/>
                </a:solidFill>
                <a:latin typeface="Calibri"/>
              </a:rPr>
              <a:t>Method from the CAPIO paper: 10 runs, mean +/- deviation. Correctness shown by identical checksums across setups.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40">
                <a:solidFill>
                  <a:srgbClr val="5A6B82"/>
                </a:solidFill>
                <a:latin typeface="Consolas"/>
              </a:rPr>
              <a:t>07 · </a:t>
            </a:r>
            <a:r>
              <a:rPr sz="1200" b="1" i="0" spc="140">
                <a:solidFill>
                  <a:srgbClr val="C9761E"/>
                </a:solidFill>
                <a:latin typeface="Consolas"/>
              </a:rPr>
              <a:t>STATUS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A24"/>
                </a:solidFill>
                <a:latin typeface="Calibri"/>
              </a:rPr>
              <a:t>The measured failure drives the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04021" y="3401568"/>
            <a:ext cx="8183651" cy="25400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94293" y="3291840"/>
            <a:ext cx="219456" cy="219456"/>
          </a:xfrm>
          <a:prstGeom prst="roundRect">
            <a:avLst>
              <a:gd name="adj" fmla="val 6000"/>
            </a:avLst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49040"/>
            <a:ext cx="27278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8A5F"/>
                </a:solidFill>
                <a:latin typeface="Consolas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25450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A6B82"/>
                </a:solidFill>
                <a:latin typeface="Calibri"/>
              </a:rPr>
              <a:t>Benchmark + 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67313" y="3236976"/>
            <a:ext cx="329184" cy="329184"/>
          </a:xfrm>
          <a:prstGeom prst="roundRect">
            <a:avLst>
              <a:gd name="adj" fmla="val 6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2177" y="3291840"/>
            <a:ext cx="219456" cy="219456"/>
          </a:xfrm>
          <a:prstGeom prst="roundRect">
            <a:avLst>
              <a:gd name="adj" fmla="val 6000"/>
            </a:avLst>
          </a:prstGeom>
          <a:solidFill>
            <a:srgbClr val="C9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7963" y="3749040"/>
            <a:ext cx="27278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9761E"/>
                </a:solidFill>
                <a:latin typeface="Consolas"/>
              </a:rPr>
              <a:t>F2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160520"/>
            <a:ext cx="25450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A6B82"/>
                </a:solidFill>
                <a:latin typeface="Calibri"/>
              </a:rPr>
              <a:t>Trace + spike (next)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0061" y="3291840"/>
            <a:ext cx="219456" cy="219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859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3749040"/>
            <a:ext cx="27278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5A6B82"/>
                </a:solidFill>
                <a:latin typeface="Consolas"/>
              </a:rPr>
              <a:t>F3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4160520"/>
            <a:ext cx="25450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A6B82"/>
                </a:solidFill>
                <a:latin typeface="Calibri"/>
              </a:rPr>
              <a:t>CAPIO owns the 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77945" y="3291840"/>
            <a:ext cx="219456" cy="219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859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731" y="3749040"/>
            <a:ext cx="27278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5A6B82"/>
                </a:solidFill>
                <a:latin typeface="Consolas"/>
              </a:rPr>
              <a:t>F4-6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171" y="4160520"/>
            <a:ext cx="25450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A6B82"/>
                </a:solidFill>
                <a:latin typeface="Calibri"/>
              </a:rPr>
              <a:t>Streaming +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140">
                <a:solidFill>
                  <a:srgbClr val="5A6B82"/>
                </a:solidFill>
                <a:latin typeface="Consolas"/>
              </a:rPr>
              <a:t>Backup · </a:t>
            </a:r>
            <a:r>
              <a:rPr sz="1200" b="1" i="0" spc="140">
                <a:solidFill>
                  <a:srgbClr val="C9761E"/>
                </a:solidFill>
                <a:latin typeface="Consolas"/>
              </a:rPr>
              <a:t>HOW THE NUMBERS ARE MADE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911535" cy="127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80015" y="384048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100">
                <a:solidFill>
                  <a:srgbClr val="5A6B82"/>
                </a:solidFill>
                <a:latin typeface="Consolas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A24"/>
                </a:solidFill>
                <a:latin typeface="Calibri"/>
              </a:rPr>
              <a:t>Reading the results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28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A24"/>
                </a:solidFill>
                <a:latin typeface="Consolas"/>
              </a:rPr>
              <a:t>Throughput (MB/s)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5A6B82"/>
                </a:solidFill>
                <a:latin typeface="Calibri"/>
              </a:rPr>
              <a:t>Total bytes divided by the time of the I/O loop, on a monotonic clock (bytes / seconds). The same formula in every setup, so the setups compare fairly.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10911535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3628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A24"/>
                </a:solidFill>
                <a:latin typeface="Consolas"/>
              </a:rPr>
              <a:t>Verified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5A6B82"/>
                </a:solidFill>
                <a:latin typeface="Calibri"/>
              </a:rPr>
              <a:t>The consumer rebuilds the expected content from a position-based pattern and reads back what arrived. Yes means every byte matched; the two sides share no data, so a match proves the bytes came through intact.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911535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628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A24"/>
                </a:solidFill>
                <a:latin typeface="Consolas"/>
              </a:rPr>
              <a:t>Checksum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5A6B82"/>
                </a:solidFill>
                <a:latin typeface="Calibri"/>
              </a:rPr>
              <a:t>A 64-bit FNV fingerprint per file. The same fingerprint across all setups shows CAPIO does not corrupt the data (RQ1). Cheap to compute, so it does not distort the timing.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